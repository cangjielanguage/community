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28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ojian 00570133_FBBzfAzU" initials="authorId_AK20210901JXNSXO4942264" lastIdx="64643464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E89F"/>
    <a:srgbClr val="2D77EE"/>
    <a:srgbClr val="2E78EE"/>
    <a:srgbClr val="EFEFF0"/>
    <a:srgbClr val="2FE7A0"/>
    <a:srgbClr val="0070C0"/>
    <a:srgbClr val="03A6F8"/>
    <a:srgbClr val="80B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3" autoAdjust="0"/>
    <p:restoredTop sz="59267" autoAdjust="0"/>
  </p:normalViewPr>
  <p:slideViewPr>
    <p:cSldViewPr snapToGrid="0">
      <p:cViewPr varScale="1">
        <p:scale>
          <a:sx n="81" d="100"/>
          <a:sy n="81" d="100"/>
        </p:scale>
        <p:origin x="280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049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E6E62-0A4A-440F-A3A0-1904151E0F6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DF4-6413-405D-8311-20A510DC5E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976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716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gradFill>
          <a:gsLst>
            <a:gs pos="0">
              <a:srgbClr val="2D77EE"/>
            </a:gs>
            <a:gs pos="100000">
              <a:srgbClr val="2FE7A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>
          <a:gsLst>
            <a:gs pos="0">
              <a:srgbClr val="2E78EE"/>
            </a:gs>
            <a:gs pos="100000">
              <a:srgbClr val="2EE89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1097915"/>
            <a:ext cx="12192000" cy="5760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1029">
            <a:extLst>
              <a:ext uri="{FF2B5EF4-FFF2-40B4-BE49-F238E27FC236}">
                <a16:creationId xmlns:a16="http://schemas.microsoft.com/office/drawing/2014/main" id="{0A28BA70-B37C-D52F-540D-428D8B29815D}"/>
              </a:ext>
            </a:extLst>
          </p:cNvPr>
          <p:cNvSpPr txBox="1">
            <a:spLocks/>
          </p:cNvSpPr>
          <p:nvPr userDrawn="1"/>
        </p:nvSpPr>
        <p:spPr>
          <a:xfrm>
            <a:off x="10166888" y="6211338"/>
            <a:ext cx="1720312" cy="31900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err="1">
                <a:solidFill>
                  <a:schemeClr val="tx1"/>
                </a:solidFill>
                <a:latin typeface="Arial" panose="020B0604020202090204" pitchFamily="34" charset="0"/>
              </a:rPr>
              <a:t>Cangjie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90204" pitchFamily="34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90204" pitchFamily="34" charset="0"/>
              </a:rPr>
              <a:t>开源社区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D77EE"/>
            </a:gs>
            <a:gs pos="100000">
              <a:srgbClr val="2EE89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2" name="灯片编号占位符 1029">
            <a:extLst>
              <a:ext uri="{FF2B5EF4-FFF2-40B4-BE49-F238E27FC236}">
                <a16:creationId xmlns:a16="http://schemas.microsoft.com/office/drawing/2014/main" id="{CD062DF0-8773-F38F-339B-A3000D4E0FCC}"/>
              </a:ext>
            </a:extLst>
          </p:cNvPr>
          <p:cNvSpPr txBox="1">
            <a:spLocks/>
          </p:cNvSpPr>
          <p:nvPr userDrawn="1"/>
        </p:nvSpPr>
        <p:spPr>
          <a:xfrm>
            <a:off x="10166888" y="6211338"/>
            <a:ext cx="1720312" cy="31900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err="1">
                <a:solidFill>
                  <a:schemeClr val="bg1"/>
                </a:solidFill>
                <a:latin typeface="Arial" panose="020B0604020202090204" pitchFamily="34" charset="0"/>
              </a:rPr>
              <a:t>Cangjie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90204" pitchFamily="34" charset="0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90204" pitchFamily="34" charset="0"/>
              </a:rPr>
              <a:t>开源社区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D77EE"/>
            </a:gs>
            <a:gs pos="100000">
              <a:srgbClr val="2EE89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8718" y="2598003"/>
            <a:ext cx="10674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800" b="1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</a:rPr>
              <a:t>课题名称：</a:t>
            </a:r>
            <a:r>
              <a:rPr lang="en-US" altLang="zh-CN" sz="4800" b="1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</a:rPr>
              <a:t>XXXX</a:t>
            </a:r>
            <a:endParaRPr lang="zh-CN" altLang="en-US" sz="4800" b="1" dirty="0">
              <a:solidFill>
                <a:srgbClr val="FFFFF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</a:endParaRPr>
          </a:p>
        </p:txBody>
      </p:sp>
      <p:sp>
        <p:nvSpPr>
          <p:cNvPr id="3" name="文本框 4">
            <a:extLst>
              <a:ext uri="{FF2B5EF4-FFF2-40B4-BE49-F238E27FC236}">
                <a16:creationId xmlns:a16="http://schemas.microsoft.com/office/drawing/2014/main" id="{F1C45E1C-4CA3-A124-995D-8063F176B1EE}"/>
              </a:ext>
            </a:extLst>
          </p:cNvPr>
          <p:cNvSpPr txBox="1"/>
          <p:nvPr/>
        </p:nvSpPr>
        <p:spPr>
          <a:xfrm>
            <a:off x="4630215" y="4525600"/>
            <a:ext cx="29315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Cangjie</a:t>
            </a:r>
            <a:r>
              <a:rPr lang="en-US" altLang="zh-CN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年度课题结题汇报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汇报人：</a:t>
            </a:r>
            <a:r>
              <a:rPr lang="en-US" altLang="zh-CN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xxx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所属单位：</a:t>
            </a:r>
            <a:r>
              <a:rPr lang="en-US" altLang="zh-CN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xxx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rgbClr val="FFFFF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Regular" panose="020B0A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6356DFA-E312-EE21-D31F-0D99B02949A7}"/>
              </a:ext>
            </a:extLst>
          </p:cNvPr>
          <p:cNvSpPr txBox="1">
            <a:spLocks/>
          </p:cNvSpPr>
          <p:nvPr/>
        </p:nvSpPr>
        <p:spPr>
          <a:xfrm>
            <a:off x="818078" y="1254702"/>
            <a:ext cx="5271655" cy="493395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课题概况</a:t>
            </a:r>
            <a:endParaRPr lang="en-US" altLang="zh-CN" sz="18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研究方案</a:t>
            </a:r>
            <a:endParaRPr lang="en-US" altLang="zh-CN" sz="18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难点与挑战</a:t>
            </a:r>
            <a:endParaRPr lang="en-US" altLang="zh-CN" sz="18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研究方案及创新性体现</a:t>
            </a:r>
            <a:endParaRPr lang="en-US" altLang="zh-CN" sz="18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研究方案的完备性说明</a:t>
            </a:r>
            <a:endParaRPr lang="en-US" altLang="zh-CN" sz="18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spcBef>
                <a:spcPts val="600"/>
              </a:spcBef>
            </a:pP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课题成果</a:t>
            </a:r>
            <a:endParaRPr lang="en-US" altLang="zh-CN" sz="18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技术成果、理论创新、产学研应用</a:t>
            </a:r>
            <a:endParaRPr lang="en-US" altLang="zh-CN" sz="18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开源技术社区贡献</a:t>
            </a:r>
            <a:endParaRPr lang="en-US" altLang="zh-CN" sz="18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spcBef>
                <a:spcPts val="600"/>
              </a:spcBef>
            </a:pP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总结与反馈</a:t>
            </a:r>
            <a:endParaRPr lang="en-US" altLang="zh-CN" sz="18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课题成果的应用前景</a:t>
            </a:r>
            <a:endParaRPr lang="en-US" altLang="zh-CN" sz="18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开源技术社区贡献的经验和诉求</a:t>
            </a:r>
            <a:endParaRPr lang="en-US" altLang="zh-CN" sz="18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C4E249-ADD9-3067-19F4-5C15D5E0AE57}"/>
              </a:ext>
            </a:extLst>
          </p:cNvPr>
          <p:cNvSpPr txBox="1"/>
          <p:nvPr/>
        </p:nvSpPr>
        <p:spPr>
          <a:xfrm>
            <a:off x="7615083" y="5703110"/>
            <a:ext cx="3570208" cy="326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i="1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200" dirty="0">
                <a:highlight>
                  <a:srgbClr val="FFFF00"/>
                </a:highlight>
              </a:rPr>
              <a:t>注：此模板仅供参考，目录和主体内容可按需调整</a:t>
            </a:r>
            <a:endParaRPr lang="en-US" altLang="zh-CN" sz="1200" dirty="0">
              <a:highlight>
                <a:srgbClr val="FFFF00"/>
              </a:highlight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0F8443-AFBD-7659-B9B5-F0BBA1413AD0}"/>
              </a:ext>
            </a:extLst>
          </p:cNvPr>
          <p:cNvSpPr txBox="1"/>
          <p:nvPr/>
        </p:nvSpPr>
        <p:spPr>
          <a:xfrm>
            <a:off x="315377" y="24629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目录</a:t>
            </a:r>
            <a:endParaRPr lang="en-US" altLang="zh-CN" sz="3200" b="1" dirty="0">
              <a:solidFill>
                <a:srgbClr val="FFFFF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Regular" panose="020B0A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2277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15BBFFB-AA2E-F103-AD9C-20E9E46E4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930169"/>
              </p:ext>
            </p:extLst>
          </p:nvPr>
        </p:nvGraphicFramePr>
        <p:xfrm>
          <a:off x="1646693" y="2042830"/>
          <a:ext cx="9061623" cy="2882454"/>
        </p:xfrm>
        <a:graphic>
          <a:graphicData uri="http://schemas.openxmlformats.org/drawingml/2006/table">
            <a:tbl>
              <a:tblPr firstCol="1">
                <a:tableStyleId>{7DF18680-E054-41AD-8BC1-D1AEF772440D}</a:tableStyleId>
              </a:tblPr>
              <a:tblGrid>
                <a:gridCol w="2614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409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汇报类别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187798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结题汇报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409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课题名称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187798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dirty="0" err="1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xxxx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409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揭榜单位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/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个人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187798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揭榜单位</a:t>
                      </a:r>
                      <a:r>
                        <a:rPr lang="en-US" altLang="zh-CN" sz="1800" kern="1200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/</a:t>
                      </a:r>
                      <a:r>
                        <a:rPr lang="zh-CN" altLang="en-US" sz="1800" kern="1200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个人名称、课题负责人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409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课题组成员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187798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dirty="0" err="1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xxxx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409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开题时间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187798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dirty="0" err="1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xxxx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409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中期审视遗留问题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187798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对上一次汇报的遗留问题或者点评的回应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86365863-B955-D137-A555-D9E8170C4EEE}"/>
              </a:ext>
            </a:extLst>
          </p:cNvPr>
          <p:cNvSpPr txBox="1"/>
          <p:nvPr/>
        </p:nvSpPr>
        <p:spPr>
          <a:xfrm>
            <a:off x="315377" y="24629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课题概况</a:t>
            </a:r>
            <a:endParaRPr lang="en-US" altLang="zh-CN" sz="3200" b="1" dirty="0">
              <a:solidFill>
                <a:srgbClr val="FFFFF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Regular" panose="020B0A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170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3A172F7-B898-7488-6EF3-25E28A96B9D3}"/>
              </a:ext>
            </a:extLst>
          </p:cNvPr>
          <p:cNvSpPr txBox="1"/>
          <p:nvPr/>
        </p:nvSpPr>
        <p:spPr>
          <a:xfrm>
            <a:off x="1001210" y="1404244"/>
            <a:ext cx="410881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i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请描述课题的难点与挑战、研究方案。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C60469-3D81-622E-7BD8-527A656EBCAF}"/>
              </a:ext>
            </a:extLst>
          </p:cNvPr>
          <p:cNvSpPr txBox="1"/>
          <p:nvPr/>
        </p:nvSpPr>
        <p:spPr>
          <a:xfrm>
            <a:off x="315377" y="24629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研究方案</a:t>
            </a:r>
            <a:endParaRPr lang="en-US" altLang="zh-CN" sz="3200" b="1" dirty="0">
              <a:solidFill>
                <a:srgbClr val="FFFFF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Regular" panose="020B0A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175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3BC4406-C6D0-0382-22CD-2D6CFFDD227C}"/>
              </a:ext>
            </a:extLst>
          </p:cNvPr>
          <p:cNvSpPr txBox="1"/>
          <p:nvPr/>
        </p:nvSpPr>
        <p:spPr>
          <a:xfrm>
            <a:off x="1001210" y="1372494"/>
            <a:ext cx="341632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i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请例举出该方案的创新技术点。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A4F1A1-3F4A-10B0-EF6E-3EA6BED1FA91}"/>
              </a:ext>
            </a:extLst>
          </p:cNvPr>
          <p:cNvSpPr txBox="1"/>
          <p:nvPr/>
        </p:nvSpPr>
        <p:spPr>
          <a:xfrm>
            <a:off x="315377" y="24629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方案创新性说明</a:t>
            </a:r>
            <a:endParaRPr lang="en-US" altLang="zh-CN" sz="3200" b="1" dirty="0">
              <a:solidFill>
                <a:srgbClr val="FFFFF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Regular" panose="020B0A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930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E2D50E5-6F7A-1DB4-CD4B-15FE2207B343}"/>
              </a:ext>
            </a:extLst>
          </p:cNvPr>
          <p:cNvSpPr txBox="1"/>
          <p:nvPr/>
        </p:nvSpPr>
        <p:spPr>
          <a:xfrm>
            <a:off x="1001210" y="1443507"/>
            <a:ext cx="103412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i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方案是否满足了课题的技术诉求，以及分解目标的满足度，同时保证代码、测试、文档等完整配套。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8D0942-AB25-E283-B25B-2B09004A458E}"/>
              </a:ext>
            </a:extLst>
          </p:cNvPr>
          <p:cNvSpPr txBox="1"/>
          <p:nvPr/>
        </p:nvSpPr>
        <p:spPr>
          <a:xfrm>
            <a:off x="315377" y="24629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方案完备性说明</a:t>
            </a:r>
            <a:endParaRPr lang="en-US" altLang="zh-CN" sz="3200" b="1" dirty="0">
              <a:solidFill>
                <a:srgbClr val="FFFFF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Regular" panose="020B0A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3482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4EDC475-8E9A-61C6-E708-105424DD4A28}"/>
              </a:ext>
            </a:extLst>
          </p:cNvPr>
          <p:cNvSpPr txBox="1"/>
          <p:nvPr/>
        </p:nvSpPr>
        <p:spPr>
          <a:xfrm>
            <a:off x="1001210" y="1379718"/>
            <a:ext cx="907171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i="1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en-US" altLang="zh-CN" dirty="0"/>
              <a:t>1</a:t>
            </a:r>
            <a:r>
              <a:rPr lang="zh-CN" altLang="en-US" dirty="0"/>
              <a:t>）是否有相应的代码进行了实现，并且有相应的用例测试通过。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）对于业界有诉求的课题，是否满足了业界诉求，以及需要与业界同类方案进行对比。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）是否已贡献开源社区，其对应的价值分析与影响。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6A926A-61FD-E8DB-D49D-1315FB789941}"/>
              </a:ext>
            </a:extLst>
          </p:cNvPr>
          <p:cNvSpPr txBox="1"/>
          <p:nvPr/>
        </p:nvSpPr>
        <p:spPr>
          <a:xfrm>
            <a:off x="315377" y="24629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课题成果</a:t>
            </a:r>
            <a:endParaRPr lang="en-US" altLang="zh-CN" sz="3200" b="1" dirty="0">
              <a:solidFill>
                <a:srgbClr val="FFFFF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Regular" panose="020B0A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4375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580E206-F84A-1B16-6EC7-9DBE81132016}"/>
              </a:ext>
            </a:extLst>
          </p:cNvPr>
          <p:cNvSpPr txBox="1"/>
          <p:nvPr/>
        </p:nvSpPr>
        <p:spPr>
          <a:xfrm>
            <a:off x="1001210" y="1443507"/>
            <a:ext cx="780213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i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请阐述分析课题成果的应用前景，以及贡献开源社区的经验、现状、计划。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F16A39-0367-6ADD-4B1B-F97F5E22C6F5}"/>
              </a:ext>
            </a:extLst>
          </p:cNvPr>
          <p:cNvSpPr txBox="1"/>
          <p:nvPr/>
        </p:nvSpPr>
        <p:spPr>
          <a:xfrm>
            <a:off x="315377" y="24629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总结与反馈</a:t>
            </a:r>
            <a:endParaRPr lang="en-US" altLang="zh-CN" sz="3200" b="1" dirty="0">
              <a:solidFill>
                <a:srgbClr val="FFFFF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Regular" panose="020B0A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884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D77EE"/>
            </a:gs>
            <a:gs pos="100000">
              <a:srgbClr val="2EE89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60277" y="3014027"/>
            <a:ext cx="267144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ans CN Bold" panose="020B0A00000000000000" charset="-122"/>
                <a:ea typeface="Source Han Sans CN Bold" panose="020B0A00000000000000" charset="-122"/>
                <a:cs typeface="HarmonyOS Sans" panose="00000600000000000000" charset="0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A6F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2205</TotalTime>
  <Words>276</Words>
  <Application>Microsoft Office PowerPoint</Application>
  <PresentationFormat>宽屏</PresentationFormat>
  <Paragraphs>46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Source Han Sans CN Bold</vt:lpstr>
      <vt:lpstr>等线</vt:lpstr>
      <vt:lpstr>仿宋</vt:lpstr>
      <vt:lpstr>微软雅黑</vt:lpstr>
      <vt:lpstr>Arial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heyuai</dc:creator>
  <cp:lastModifiedBy>Huxiaoming</cp:lastModifiedBy>
  <cp:revision>285</cp:revision>
  <dcterms:created xsi:type="dcterms:W3CDTF">2022-12-29T07:42:32Z</dcterms:created>
  <dcterms:modified xsi:type="dcterms:W3CDTF">2026-06-23T13:25:10Z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2052-3.4.0.5283</vt:lpwstr>
  </property>
  <property fmtid="{D5CDD505-2E9C-101B-9397-08002B2CF9AE}" pid="3" name="_2015_ms_pID_725343">
    <vt:lpwstr>(3)LwSQuPW6RRwDvsVFz+Z2VoZ3k+wJ5NoB19xJncOirkZpmaQBIGXTwbgJNSEQV8PCn9vi5E7Y
B1f2yCOnJ1OcKUHj7r5O/xegdfHYE9tFUsGYMAeBzlxqCmUS8nAWghqy81DMtcBdH1Jafecz
hYpmZ1VXR40bLB53jqPfILGZE5KktUfLbqKjGiTedh4Zk3J9PlHkUq1bkSJKbPOpJ5Adtf11
e7O3ZkpvQmRJNIo2dO</vt:lpwstr>
  </property>
  <property fmtid="{D5CDD505-2E9C-101B-9397-08002B2CF9AE}" pid="4" name="_2015_ms_pID_7253431">
    <vt:lpwstr>hLB++LM4dRA1DJpaW+NwliVd8VrzdfVKzouNuGbbJxEHN6WXd6Dg5g
JIDxNr8irxsE9EuhCvRKpL2eRgv865x1/F6/B/0PRTaizpu9g5A8IQGpaKiL9fnQvU/Tfqiq
7M/X8GnIaGKNKjdUkh7Rxh9xr3n3616Xnjr8TA7QiZCrSnaPgztKHD6tg7YMpMqXfA3u8G1l
ziaxn8H8TsamYWmvDIoVqOINrVFz/n+52SLw</vt:lpwstr>
  </property>
  <property fmtid="{D5CDD505-2E9C-101B-9397-08002B2CF9AE}" pid="5" name="_2015_ms_pID_7253432">
    <vt:lpwstr>HXzlv2bEV5gx6i3ctliAjO4=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1780970051</vt:lpwstr>
  </property>
</Properties>
</file>