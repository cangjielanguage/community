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60" r:id="rId3"/>
    <p:sldId id="295" r:id="rId4"/>
    <p:sldId id="28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ojian 00570133_FBBzfAzU" initials="authorId_AK20210901JXNSXO4942264" lastIdx="64643464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E89F"/>
    <a:srgbClr val="2D77EE"/>
    <a:srgbClr val="2FE7A0"/>
    <a:srgbClr val="FEFEFF"/>
    <a:srgbClr val="2E78EE"/>
    <a:srgbClr val="EFEFF0"/>
    <a:srgbClr val="0070C0"/>
    <a:srgbClr val="03A6F8"/>
    <a:srgbClr val="80B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3" autoAdjust="0"/>
    <p:restoredTop sz="59267" autoAdjust="0"/>
  </p:normalViewPr>
  <p:slideViewPr>
    <p:cSldViewPr snapToGrid="0">
      <p:cViewPr varScale="1">
        <p:scale>
          <a:sx n="81" d="100"/>
          <a:sy n="81" d="100"/>
        </p:scale>
        <p:origin x="28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049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97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96EB4-AC75-FE4F-BB42-8259E88337D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8818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71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gradFill>
          <a:gsLst>
            <a:gs pos="0">
              <a:srgbClr val="2D77EE"/>
            </a:gs>
            <a:gs pos="100000">
              <a:srgbClr val="2FE7A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0">
              <a:srgbClr val="2E78EE"/>
            </a:gs>
            <a:gs pos="100000">
              <a:srgbClr val="2EE89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097915"/>
            <a:ext cx="12192000" cy="5760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1029">
            <a:extLst>
              <a:ext uri="{FF2B5EF4-FFF2-40B4-BE49-F238E27FC236}">
                <a16:creationId xmlns:a16="http://schemas.microsoft.com/office/drawing/2014/main" id="{0A28BA70-B37C-D52F-540D-428D8B29815D}"/>
              </a:ext>
            </a:extLst>
          </p:cNvPr>
          <p:cNvSpPr txBox="1">
            <a:spLocks/>
          </p:cNvSpPr>
          <p:nvPr userDrawn="1"/>
        </p:nvSpPr>
        <p:spPr>
          <a:xfrm>
            <a:off x="10166888" y="6211338"/>
            <a:ext cx="1720312" cy="31900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chemeClr val="tx1"/>
                </a:solidFill>
                <a:latin typeface="Arial" panose="020B0604020202090204" pitchFamily="34" charset="0"/>
              </a:rPr>
              <a:t>Cangjie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90204" pitchFamily="34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90204" pitchFamily="34" charset="0"/>
              </a:rPr>
              <a:t>开源社区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13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77EE"/>
            </a:gs>
            <a:gs pos="100000">
              <a:srgbClr val="2EE89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2" name="灯片编号占位符 1029">
            <a:extLst>
              <a:ext uri="{FF2B5EF4-FFF2-40B4-BE49-F238E27FC236}">
                <a16:creationId xmlns:a16="http://schemas.microsoft.com/office/drawing/2014/main" id="{CD062DF0-8773-F38F-339B-A3000D4E0FCC}"/>
              </a:ext>
            </a:extLst>
          </p:cNvPr>
          <p:cNvSpPr txBox="1">
            <a:spLocks/>
          </p:cNvSpPr>
          <p:nvPr userDrawn="1"/>
        </p:nvSpPr>
        <p:spPr>
          <a:xfrm>
            <a:off x="10166888" y="6211338"/>
            <a:ext cx="1720312" cy="31900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chemeClr val="bg1"/>
                </a:solidFill>
                <a:latin typeface="Arial" panose="020B0604020202090204" pitchFamily="34" charset="0"/>
              </a:rPr>
              <a:t>Cangjie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90204" pitchFamily="34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90204" pitchFamily="34" charset="0"/>
              </a:rPr>
              <a:t>开源社区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77EE"/>
            </a:gs>
            <a:gs pos="100000">
              <a:srgbClr val="2FE7A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9D955D7-2CB2-D6DE-47E7-1CCE671CDAEC}"/>
              </a:ext>
            </a:extLst>
          </p:cNvPr>
          <p:cNvSpPr txBox="1"/>
          <p:nvPr/>
        </p:nvSpPr>
        <p:spPr>
          <a:xfrm>
            <a:off x="4157004" y="2173101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800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</a:rPr>
              <a:t>申报课题模板</a:t>
            </a:r>
            <a:endParaRPr lang="en-US" altLang="zh-CN" sz="4800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</a:endParaRPr>
          </a:p>
        </p:txBody>
      </p:sp>
      <p:sp>
        <p:nvSpPr>
          <p:cNvPr id="4" name="文本框 4">
            <a:extLst>
              <a:ext uri="{FF2B5EF4-FFF2-40B4-BE49-F238E27FC236}">
                <a16:creationId xmlns:a16="http://schemas.microsoft.com/office/drawing/2014/main" id="{0849E6A5-3D37-18A8-FD0D-EF219D58635D}"/>
              </a:ext>
            </a:extLst>
          </p:cNvPr>
          <p:cNvSpPr txBox="1"/>
          <p:nvPr/>
        </p:nvSpPr>
        <p:spPr>
          <a:xfrm>
            <a:off x="4416245" y="4525600"/>
            <a:ext cx="335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 err="1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Cangjie</a:t>
            </a:r>
            <a:r>
              <a:rPr lang="zh-CN" altLang="en-US" b="1" dirty="0">
                <a:solidFill>
                  <a:srgbClr val="FFFFFF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项目群技术指导委员会</a:t>
            </a:r>
            <a:endParaRPr lang="en-US" altLang="zh-CN" b="1" dirty="0">
              <a:solidFill>
                <a:srgbClr val="FFFFF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ption1 : 标题 50pt"/>
          <p:cNvSpPr txBox="1"/>
          <p:nvPr/>
        </p:nvSpPr>
        <p:spPr>
          <a:xfrm>
            <a:off x="2944859" y="56419"/>
            <a:ext cx="6231938" cy="6539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 anchorCtr="0">
            <a:noAutofit/>
          </a:bodyPr>
          <a:lstStyle>
            <a:lvl1pPr defTabSz="695960">
              <a:lnSpc>
                <a:spcPct val="130000"/>
              </a:lnSpc>
              <a:defRPr sz="5000" spc="500">
                <a:latin typeface="FZLanTingHeiS-R-GB" panose="02000500000000000000" charset="-122"/>
                <a:ea typeface="FZLanTingHeiS-R-GB" panose="02000500000000000000" charset="-122"/>
                <a:cs typeface="FZLanTingHeiS-R-GB" panose="02000500000000000000" charset="-122"/>
                <a:sym typeface="FZLanTingHeiS-R-GB" panose="02000500000000000000" charset="-122"/>
              </a:defRPr>
            </a:lvl1pPr>
          </a:lstStyle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Regular" panose="020B0604020202090204" charset="0"/>
              </a:rPr>
              <a:t>应用编程语言十大技术挑战方向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41CE6D2-7D26-4C43-8D61-FC600B7BDC77}"/>
              </a:ext>
            </a:extLst>
          </p:cNvPr>
          <p:cNvGrpSpPr/>
          <p:nvPr/>
        </p:nvGrpSpPr>
        <p:grpSpPr>
          <a:xfrm>
            <a:off x="1469067" y="835530"/>
            <a:ext cx="9253863" cy="5383885"/>
            <a:chOff x="1239317" y="844813"/>
            <a:chExt cx="9253863" cy="5383885"/>
          </a:xfrm>
        </p:grpSpPr>
        <p:sp>
          <p:nvSpPr>
            <p:cNvPr id="5" name="矩形: 圆角 8">
              <a:extLst>
                <a:ext uri="{FF2B5EF4-FFF2-40B4-BE49-F238E27FC236}">
                  <a16:creationId xmlns:a16="http://schemas.microsoft.com/office/drawing/2014/main" id="{2EBB1CB3-3445-4E06-AB6C-22F3DB64392E}"/>
                </a:ext>
              </a:extLst>
            </p:cNvPr>
            <p:cNvSpPr/>
            <p:nvPr/>
          </p:nvSpPr>
          <p:spPr>
            <a:xfrm>
              <a:off x="1239317" y="3156520"/>
              <a:ext cx="9183522" cy="1427126"/>
            </a:xfrm>
            <a:prstGeom prst="roundRect">
              <a:avLst>
                <a:gd name="adj" fmla="val 5564"/>
              </a:avLst>
            </a:prstGeom>
            <a:solidFill>
              <a:schemeClr val="accent1">
                <a:alpha val="4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: 圆角 8">
              <a:extLst>
                <a:ext uri="{FF2B5EF4-FFF2-40B4-BE49-F238E27FC236}">
                  <a16:creationId xmlns:a16="http://schemas.microsoft.com/office/drawing/2014/main" id="{57401A37-6B34-4629-B42B-AAF6E318E755}"/>
                </a:ext>
              </a:extLst>
            </p:cNvPr>
            <p:cNvSpPr/>
            <p:nvPr/>
          </p:nvSpPr>
          <p:spPr>
            <a:xfrm>
              <a:off x="1239320" y="4712109"/>
              <a:ext cx="9183522" cy="1516589"/>
            </a:xfrm>
            <a:prstGeom prst="roundRect">
              <a:avLst>
                <a:gd name="adj" fmla="val 5564"/>
              </a:avLst>
            </a:prstGeom>
            <a:solidFill>
              <a:schemeClr val="accent1">
                <a:alpha val="4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: 圆角 8">
              <a:extLst>
                <a:ext uri="{FF2B5EF4-FFF2-40B4-BE49-F238E27FC236}">
                  <a16:creationId xmlns:a16="http://schemas.microsoft.com/office/drawing/2014/main" id="{6D511102-B048-40C0-95DE-31A6409F5FB8}"/>
                </a:ext>
              </a:extLst>
            </p:cNvPr>
            <p:cNvSpPr/>
            <p:nvPr/>
          </p:nvSpPr>
          <p:spPr>
            <a:xfrm>
              <a:off x="1239321" y="844813"/>
              <a:ext cx="9183518" cy="2216647"/>
            </a:xfrm>
            <a:prstGeom prst="roundRect">
              <a:avLst>
                <a:gd name="adj" fmla="val 5564"/>
              </a:avLst>
            </a:prstGeom>
            <a:solidFill>
              <a:schemeClr val="accent1">
                <a:alpha val="4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ption1 : 标题 50pt"/>
            <p:cNvSpPr txBox="1"/>
            <p:nvPr/>
          </p:nvSpPr>
          <p:spPr>
            <a:xfrm>
              <a:off x="2270147" y="957352"/>
              <a:ext cx="7760403" cy="46639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lvl1pPr defTabSz="695960">
                <a:lnSpc>
                  <a:spcPct val="130000"/>
                </a:lnSpc>
                <a:defRPr sz="5000" spc="500">
                  <a:latin typeface="FZLanTingHeiS-R-GB" panose="02000500000000000000" charset="-122"/>
                  <a:ea typeface="FZLanTingHeiS-R-GB" panose="02000500000000000000" charset="-122"/>
                  <a:cs typeface="FZLanTingHeiS-R-GB" panose="02000500000000000000" charset="-122"/>
                  <a:sym typeface="FZLanTingHeiS-R-GB" panose="02000500000000000000" charset="-122"/>
                </a:defRPr>
              </a:lvl1pPr>
            </a:lstStyle>
            <a:p>
              <a:pPr font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Bold" panose="020B0600000000000000" charset="-122"/>
                </a:rPr>
                <a:t>挑战方向</a:t>
              </a:r>
              <a:r>
                <a: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Bold" panose="020B0600000000000000" charset="-122"/>
                </a:rPr>
                <a:t>1</a:t>
              </a:r>
              <a:r>
                <a: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Bold" panose="020B0600000000000000" charset="-122"/>
                </a:rPr>
                <a:t>：</a:t>
              </a:r>
              <a:endParaRPr lang="zh-CN" altLang="en-US" sz="18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Option1 : 标题 50pt"/>
            <p:cNvSpPr txBox="1"/>
            <p:nvPr/>
          </p:nvSpPr>
          <p:spPr>
            <a:xfrm>
              <a:off x="2272768" y="1461802"/>
              <a:ext cx="7850616" cy="52963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b="1" i="1" spc="50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FZLanTingHeiS-R-GB" panose="02000500000000000000" charset="-122"/>
                </a:rPr>
                <a:t>挑战方向</a:t>
              </a:r>
              <a:r>
                <a:rPr lang="en-US" altLang="zh-CN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FZLanTingHeiS-R-GB" panose="02000500000000000000" charset="-122"/>
                </a:rPr>
                <a:t>2</a:t>
              </a:r>
              <a:r>
                <a:rPr lang="zh-CN" altLang="en-US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FZLanTingHeiS-R-GB" panose="02000500000000000000" charset="-122"/>
                </a:rPr>
                <a:t>：</a:t>
              </a:r>
              <a:endParaRPr lang="zh-CN" altLang="en-US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10" name="Option1 : 标题 50pt"/>
            <p:cNvSpPr txBox="1"/>
            <p:nvPr/>
          </p:nvSpPr>
          <p:spPr>
            <a:xfrm>
              <a:off x="2272766" y="2029498"/>
              <a:ext cx="7691401" cy="46458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b="1" i="1" spc="50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挑战方向</a:t>
              </a:r>
              <a:r>
                <a:rPr lang="en-US" altLang="zh-CN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" name="Option1 : 标题 50pt"/>
            <p:cNvSpPr txBox="1"/>
            <p:nvPr/>
          </p:nvSpPr>
          <p:spPr>
            <a:xfrm>
              <a:off x="2270147" y="2513020"/>
              <a:ext cx="7916479" cy="451885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sz="2000" b="1" spc="500">
                  <a:solidFill>
                    <a:schemeClr val="bg1"/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挑战方向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" name="Option1 : 标题 50pt"/>
            <p:cNvSpPr txBox="1"/>
            <p:nvPr/>
          </p:nvSpPr>
          <p:spPr>
            <a:xfrm>
              <a:off x="2257534" y="4685213"/>
              <a:ext cx="7694020" cy="439128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sz="2000" b="1" spc="500">
                  <a:solidFill>
                    <a:schemeClr val="bg1"/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挑战方向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Option1 : 标题 50pt"/>
            <p:cNvSpPr txBox="1"/>
            <p:nvPr/>
          </p:nvSpPr>
          <p:spPr>
            <a:xfrm>
              <a:off x="2260152" y="5199724"/>
              <a:ext cx="8233028" cy="40159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sz="2000" b="1" spc="500">
                  <a:solidFill>
                    <a:schemeClr val="bg1"/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挑战方向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Option1 : 标题 50pt"/>
            <p:cNvSpPr txBox="1"/>
            <p:nvPr/>
          </p:nvSpPr>
          <p:spPr>
            <a:xfrm>
              <a:off x="2269759" y="5676699"/>
              <a:ext cx="7694020" cy="46639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b="1" i="1" spc="50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挑战方向</a:t>
              </a:r>
              <a:r>
                <a:rPr lang="en-US" altLang="zh-CN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i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：</a:t>
              </a:r>
              <a:endParaRPr lang="zh-CN" altLang="en-US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6" name="Option1 : 标题 50pt"/>
            <p:cNvSpPr txBox="1"/>
            <p:nvPr/>
          </p:nvSpPr>
          <p:spPr>
            <a:xfrm>
              <a:off x="2257534" y="4142746"/>
              <a:ext cx="7913095" cy="41068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sz="2000" b="1" spc="500">
                  <a:solidFill>
                    <a:schemeClr val="bg1"/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挑战方向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800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17" name="左大括号 16"/>
            <p:cNvSpPr/>
            <p:nvPr/>
          </p:nvSpPr>
          <p:spPr>
            <a:xfrm>
              <a:off x="2005374" y="1112145"/>
              <a:ext cx="159391" cy="1760239"/>
            </a:xfrm>
            <a:prstGeom prst="leftBrac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356858" y="1329231"/>
              <a:ext cx="553998" cy="113268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 </a:t>
              </a:r>
              <a:r>
                <a:rPr lang="zh-CN" altLang="en-US" sz="2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亲和</a:t>
              </a:r>
            </a:p>
          </p:txBody>
        </p:sp>
        <p:sp>
          <p:nvSpPr>
            <p:cNvPr id="19" name="左大括号 18"/>
            <p:cNvSpPr/>
            <p:nvPr/>
          </p:nvSpPr>
          <p:spPr>
            <a:xfrm>
              <a:off x="1992760" y="4838872"/>
              <a:ext cx="159391" cy="1113910"/>
            </a:xfrm>
            <a:prstGeom prst="leftBrac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321715" y="4755070"/>
              <a:ext cx="553998" cy="13723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>
              <a:defPPr>
                <a:defRPr lang="zh-CN"/>
              </a:defPPr>
              <a:lvl1pPr>
                <a:defRPr sz="2400" b="1">
                  <a:solidFill>
                    <a:schemeClr val="bg1"/>
                  </a:solidFill>
                  <a:ea typeface="Source Han Sans CN Bold" panose="020B0600000000000000"/>
                </a:defRPr>
              </a:lvl1pPr>
            </a:lstStyle>
            <a:p>
              <a:r>
                <a:rPr lang="zh-CN" altLang="en-US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极简开发</a:t>
              </a:r>
            </a:p>
          </p:txBody>
        </p:sp>
        <p:sp>
          <p:nvSpPr>
            <p:cNvPr id="21" name="左大括号 20"/>
            <p:cNvSpPr/>
            <p:nvPr/>
          </p:nvSpPr>
          <p:spPr>
            <a:xfrm>
              <a:off x="1994037" y="3301120"/>
              <a:ext cx="159391" cy="1101106"/>
            </a:xfrm>
            <a:prstGeom prst="leftBrac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321712" y="3223016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>
              <a:defPPr>
                <a:defRPr lang="zh-CN"/>
              </a:defPPr>
              <a:lvl1pPr>
                <a:defRPr sz="2400" b="1">
                  <a:solidFill>
                    <a:schemeClr val="bg1"/>
                  </a:solidFill>
                  <a:ea typeface="Source Han Sans CN Bold" panose="020B0600000000000000"/>
                </a:defRPr>
              </a:lvl1pPr>
            </a:lstStyle>
            <a:p>
              <a:r>
                <a:rPr lang="zh-CN" altLang="en-US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纯净安全</a:t>
              </a:r>
            </a:p>
          </p:txBody>
        </p:sp>
        <p:sp>
          <p:nvSpPr>
            <p:cNvPr id="24" name="Option1 : 标题 50pt"/>
            <p:cNvSpPr txBox="1"/>
            <p:nvPr/>
          </p:nvSpPr>
          <p:spPr>
            <a:xfrm>
              <a:off x="2257534" y="3147790"/>
              <a:ext cx="7310320" cy="40159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sz="2000" b="1" spc="500">
                  <a:solidFill>
                    <a:schemeClr val="bg1"/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挑战方向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800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ption1 : 标题 50pt"/>
            <p:cNvSpPr txBox="1"/>
            <p:nvPr/>
          </p:nvSpPr>
          <p:spPr>
            <a:xfrm>
              <a:off x="2257534" y="3610464"/>
              <a:ext cx="7471972" cy="46639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 anchorCtr="0">
              <a:noAutofit/>
            </a:bodyPr>
            <a:lstStyle>
              <a:defPPr>
                <a:defRPr lang="zh-CN"/>
              </a:defPPr>
              <a:lvl1pPr defTabSz="695960" fontAlgn="ctr">
                <a:lnSpc>
                  <a:spcPct val="130000"/>
                </a:lnSpc>
                <a:defRPr sz="2000" b="1" spc="500">
                  <a:solidFill>
                    <a:schemeClr val="bg1"/>
                  </a:solidFill>
                  <a:latin typeface="Source Han Sans CN Bold" panose="020B0600000000000000" charset="-122"/>
                  <a:ea typeface="Source Han Sans CN Bold" panose="020B0600000000000000"/>
                  <a:cs typeface="Source Han Sans CN Bold" panose="020B0600000000000000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挑战方向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800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5D7CBA3C-5501-0B49-3597-803B6B11C230}"/>
              </a:ext>
            </a:extLst>
          </p:cNvPr>
          <p:cNvSpPr/>
          <p:nvPr/>
        </p:nvSpPr>
        <p:spPr>
          <a:xfrm>
            <a:off x="215762" y="1518168"/>
            <a:ext cx="5795614" cy="875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Xxxxxxxxxxxxxxxxxxxxxxxxxxxxxxxxxxxxxxxxxxxxxxxxxxxxxxxxxxxxxxxxxxxxxxxxxxxxxxxxxxxxxxxxxxxxxxxxxxxxxxxxxxxxxxxxxxxxxxxxxxxxxxxxxxxxxxxxxxxxxxxxxxxxxxxxxxxxxxxxxxxxxxxxxxx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8A5E642-D8BB-3B04-EE6C-DCE065CCF4C5}"/>
              </a:ext>
            </a:extLst>
          </p:cNvPr>
          <p:cNvSpPr/>
          <p:nvPr/>
        </p:nvSpPr>
        <p:spPr>
          <a:xfrm>
            <a:off x="6120896" y="1516114"/>
            <a:ext cx="5920683" cy="1679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xxxxxxxxxxxxxxxxxxxxxxxxxxxxxxxxxxxxxxxxxxxxxxxxxxxxxxxxxxxxxxxxxxxxxxxxxxxxxxx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xxxxxxxxxxxxxxxxxxxxxxxxxxxxxxxxxxxxxxxxxxxxxxxxxxxxxxxxxxxxxxxxxxxxxxxxxxxxxxxx</a:t>
            </a:r>
          </a:p>
          <a:p>
            <a:pPr marL="285750" marR="0" lvl="0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xxxxxxxxxxxxxxxxxxxxxxxxxxxxxxxxxxxxxxxxxxxxxxxxxxxxxxxxxxxxxxxxxxxxxxxxxxxxxxxxxxxxxxxxxxxxxxxxx</a:t>
            </a:r>
          </a:p>
        </p:txBody>
      </p:sp>
      <p:sp>
        <p:nvSpPr>
          <p:cNvPr id="2" name="Option1 : 标题 50pt">
            <a:extLst>
              <a:ext uri="{FF2B5EF4-FFF2-40B4-BE49-F238E27FC236}">
                <a16:creationId xmlns:a16="http://schemas.microsoft.com/office/drawing/2014/main" id="{CEFD0BAD-60F0-8727-1310-A07BC4CF0DC7}"/>
              </a:ext>
            </a:extLst>
          </p:cNvPr>
          <p:cNvSpPr txBox="1"/>
          <p:nvPr/>
        </p:nvSpPr>
        <p:spPr>
          <a:xfrm>
            <a:off x="412588" y="285614"/>
            <a:ext cx="9350050" cy="5761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 anchorCtr="0">
            <a:normAutofit/>
          </a:bodyPr>
          <a:lstStyle>
            <a:lvl1pPr defTabSz="695960">
              <a:lnSpc>
                <a:spcPct val="130000"/>
              </a:lnSpc>
              <a:defRPr sz="5000" spc="500">
                <a:latin typeface="FZLanTingHeiS-R-GB" panose="02000500000000000000" charset="-122"/>
                <a:ea typeface="FZLanTingHeiS-R-GB" panose="02000500000000000000" charset="-122"/>
                <a:cs typeface="FZLanTingHeiS-R-GB" panose="02000500000000000000" charset="-122"/>
                <a:sym typeface="FZLanTingHeiS-R-GB" panose="02000500000000000000" charset="-122"/>
              </a:defRPr>
            </a:lvl1pPr>
          </a:lstStyle>
          <a:p>
            <a:pPr fontAlgn="ctr"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600000000000000" charset="-122"/>
              </a:rPr>
              <a:t>年度课题</a:t>
            </a: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600000000000000" charset="-122"/>
              </a:rPr>
              <a:t>-</a:t>
            </a:r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600000000000000" charset="-122"/>
              </a:rPr>
              <a:t>挑战方向</a:t>
            </a:r>
            <a:r>
              <a:rPr lang="en-US" altLang="zh-CN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600000000000000" charset="-122"/>
              </a:rPr>
              <a:t>2</a:t>
            </a:r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600000000000000" charset="-122"/>
              </a:rPr>
              <a:t>：</a:t>
            </a:r>
            <a:r>
              <a:rPr lang="en-US" altLang="zh-CN" sz="2400" b="1" spc="3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600000000000000" charset="-122"/>
              </a:rPr>
              <a:t>xxxxxxxxxxxxxxxxxxxxxxxxxx</a:t>
            </a:r>
            <a:endParaRPr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600000000000000" charset="-122"/>
            </a:endParaRPr>
          </a:p>
        </p:txBody>
      </p:sp>
      <p:sp>
        <p:nvSpPr>
          <p:cNvPr id="24" name="椭圆形标注 1">
            <a:extLst>
              <a:ext uri="{FF2B5EF4-FFF2-40B4-BE49-F238E27FC236}">
                <a16:creationId xmlns:a16="http://schemas.microsoft.com/office/drawing/2014/main" id="{8485795F-9FFC-813E-61A2-E5F3DD2322CA}"/>
              </a:ext>
            </a:extLst>
          </p:cNvPr>
          <p:cNvSpPr/>
          <p:nvPr/>
        </p:nvSpPr>
        <p:spPr>
          <a:xfrm>
            <a:off x="123092" y="809837"/>
            <a:ext cx="1723294" cy="612648"/>
          </a:xfrm>
          <a:prstGeom prst="wedgeEllipseCallout">
            <a:avLst>
              <a:gd name="adj1" fmla="val 65705"/>
              <a:gd name="adj2" fmla="val -51354"/>
            </a:avLst>
          </a:prstGeom>
          <a:gradFill>
            <a:gsLst>
              <a:gs pos="0">
                <a:srgbClr val="2D77EE"/>
              </a:gs>
              <a:gs pos="100000">
                <a:srgbClr val="2FE7A0"/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对应十大技术挑战方向的具体方向</a:t>
            </a:r>
          </a:p>
        </p:txBody>
      </p:sp>
      <p:sp>
        <p:nvSpPr>
          <p:cNvPr id="25" name="椭圆形标注 14">
            <a:extLst>
              <a:ext uri="{FF2B5EF4-FFF2-40B4-BE49-F238E27FC236}">
                <a16:creationId xmlns:a16="http://schemas.microsoft.com/office/drawing/2014/main" id="{471E9492-3118-2A68-8E5E-E136A871E67E}"/>
              </a:ext>
            </a:extLst>
          </p:cNvPr>
          <p:cNvSpPr/>
          <p:nvPr/>
        </p:nvSpPr>
        <p:spPr>
          <a:xfrm>
            <a:off x="4400620" y="844681"/>
            <a:ext cx="1723294" cy="612648"/>
          </a:xfrm>
          <a:prstGeom prst="wedgeEllipseCallout">
            <a:avLst>
              <a:gd name="adj1" fmla="val 33732"/>
              <a:gd name="adj2" fmla="val -64749"/>
            </a:avLst>
          </a:prstGeom>
          <a:gradFill>
            <a:gsLst>
              <a:gs pos="0">
                <a:srgbClr val="2D77EE"/>
              </a:gs>
              <a:gs pos="100000">
                <a:srgbClr val="2FE7A0"/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课题的标题</a:t>
            </a:r>
          </a:p>
        </p:txBody>
      </p:sp>
      <p:sp>
        <p:nvSpPr>
          <p:cNvPr id="26" name="椭圆形标注 15">
            <a:extLst>
              <a:ext uri="{FF2B5EF4-FFF2-40B4-BE49-F238E27FC236}">
                <a16:creationId xmlns:a16="http://schemas.microsoft.com/office/drawing/2014/main" id="{BEE94738-8156-9207-6DEC-F2DC17C9979E}"/>
              </a:ext>
            </a:extLst>
          </p:cNvPr>
          <p:cNvSpPr/>
          <p:nvPr/>
        </p:nvSpPr>
        <p:spPr>
          <a:xfrm>
            <a:off x="10062811" y="2978678"/>
            <a:ext cx="1723294" cy="612648"/>
          </a:xfrm>
          <a:prstGeom prst="wedgeEllipseCallout">
            <a:avLst>
              <a:gd name="adj1" fmla="val -73411"/>
              <a:gd name="adj2" fmla="val 29970"/>
            </a:avLst>
          </a:prstGeom>
          <a:gradFill>
            <a:gsLst>
              <a:gs pos="0">
                <a:srgbClr val="2D77EE"/>
              </a:gs>
              <a:gs pos="100000">
                <a:srgbClr val="2FE7A0"/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分解目标可以具体一些，不易太宽泛</a:t>
            </a:r>
          </a:p>
        </p:txBody>
      </p:sp>
      <p:sp>
        <p:nvSpPr>
          <p:cNvPr id="27" name="椭圆形标注 17">
            <a:extLst>
              <a:ext uri="{FF2B5EF4-FFF2-40B4-BE49-F238E27FC236}">
                <a16:creationId xmlns:a16="http://schemas.microsoft.com/office/drawing/2014/main" id="{F140D22A-5EFF-4E2B-BDB5-EA8E8376DEA3}"/>
              </a:ext>
            </a:extLst>
          </p:cNvPr>
          <p:cNvSpPr/>
          <p:nvPr/>
        </p:nvSpPr>
        <p:spPr>
          <a:xfrm>
            <a:off x="187850" y="2228911"/>
            <a:ext cx="2215381" cy="612648"/>
          </a:xfrm>
          <a:prstGeom prst="wedgeEllipseCallout">
            <a:avLst>
              <a:gd name="adj1" fmla="val 42916"/>
              <a:gd name="adj2" fmla="val 56759"/>
            </a:avLst>
          </a:prstGeom>
          <a:gradFill>
            <a:gsLst>
              <a:gs pos="0">
                <a:srgbClr val="2D77EE"/>
              </a:gs>
              <a:gs pos="100000">
                <a:srgbClr val="2FE7A0"/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可以包括：前沿的技术挑战，工程技术难题，产业技术问题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68D8C2-6C57-C9F6-3553-74E469EE95C8}"/>
              </a:ext>
            </a:extLst>
          </p:cNvPr>
          <p:cNvSpPr/>
          <p:nvPr/>
        </p:nvSpPr>
        <p:spPr>
          <a:xfrm>
            <a:off x="2184767" y="1077464"/>
            <a:ext cx="1869710" cy="543878"/>
          </a:xfrm>
          <a:prstGeom prst="rect">
            <a:avLst/>
          </a:prstGeom>
          <a:ln w="12700">
            <a:miter lim="400000"/>
          </a:ln>
        </p:spPr>
        <p:txBody>
          <a:bodyPr wrap="square" lIns="108368" tIns="108368" rIns="108368" bIns="108368" anchor="ctr" anchorCtr="0">
            <a:spAutoFit/>
          </a:bodyPr>
          <a:lstStyle/>
          <a:p>
            <a:pPr marL="0" marR="0" lvl="0" indent="0" algn="ctr" defTabSz="69596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3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600000000000000" charset="-122"/>
              </a:rPr>
              <a:t>技术背景</a:t>
            </a:r>
            <a:endParaRPr kumimoji="0" lang="en-US" altLang="zh-CN" sz="1800" b="1" i="0" u="none" strike="noStrike" kern="1200" cap="none" spc="35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600000000000000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BE0AF1-1BE0-3A92-B59B-35C541E316EE}"/>
              </a:ext>
            </a:extLst>
          </p:cNvPr>
          <p:cNvSpPr/>
          <p:nvPr/>
        </p:nvSpPr>
        <p:spPr>
          <a:xfrm>
            <a:off x="2129189" y="2518381"/>
            <a:ext cx="1869710" cy="543878"/>
          </a:xfrm>
          <a:prstGeom prst="rect">
            <a:avLst/>
          </a:prstGeom>
          <a:ln w="12700">
            <a:miter lim="400000"/>
          </a:ln>
        </p:spPr>
        <p:txBody>
          <a:bodyPr wrap="square" lIns="108368" tIns="108368" rIns="108368" bIns="108368" anchor="ctr" anchorCtr="0">
            <a:spAutoFit/>
          </a:bodyPr>
          <a:lstStyle/>
          <a:p>
            <a:pPr marL="0" marR="0" lvl="0" indent="0" algn="ctr" defTabSz="69596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3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600000000000000" charset="-122"/>
              </a:rPr>
              <a:t>技术挑战</a:t>
            </a:r>
            <a:endParaRPr kumimoji="0" lang="en-US" altLang="zh-CN" sz="1800" b="1" i="0" u="none" strike="noStrike" kern="1200" cap="none" spc="35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600000000000000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E7D1008-3A23-61DA-5AB5-545F1F95867C}"/>
              </a:ext>
            </a:extLst>
          </p:cNvPr>
          <p:cNvSpPr/>
          <p:nvPr/>
        </p:nvSpPr>
        <p:spPr>
          <a:xfrm>
            <a:off x="8076240" y="1104089"/>
            <a:ext cx="1869710" cy="543878"/>
          </a:xfrm>
          <a:prstGeom prst="rect">
            <a:avLst/>
          </a:prstGeom>
          <a:ln w="12700">
            <a:miter lim="400000"/>
          </a:ln>
        </p:spPr>
        <p:txBody>
          <a:bodyPr wrap="square" lIns="108368" tIns="108368" rIns="108368" bIns="108368" anchor="ctr" anchorCtr="0">
            <a:spAutoFit/>
          </a:bodyPr>
          <a:lstStyle/>
          <a:p>
            <a:pPr marL="0" marR="0" lvl="0" indent="0" algn="ctr" defTabSz="69596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3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600000000000000" charset="-122"/>
              </a:rPr>
              <a:t>技术诉求</a:t>
            </a:r>
            <a:endParaRPr kumimoji="0" lang="en-US" altLang="zh-CN" sz="1800" b="1" i="0" u="none" strike="noStrike" kern="1200" cap="none" spc="35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600000000000000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0AC3B3E-81B5-6515-6B05-10D871439D84}"/>
              </a:ext>
            </a:extLst>
          </p:cNvPr>
          <p:cNvSpPr txBox="1"/>
          <p:nvPr/>
        </p:nvSpPr>
        <p:spPr>
          <a:xfrm>
            <a:off x="6146685" y="3817766"/>
            <a:ext cx="5728820" cy="7637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xxxxxxxxxxxxxxxxxxxxxxxxxxxxxxxxxxxxxxxxxxxxxxxxxxxxxxxxxxxxxxxxxxxxxxxxxxxxx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C1DF055-A8C3-772B-2A66-8F9209EE4594}"/>
              </a:ext>
            </a:extLst>
          </p:cNvPr>
          <p:cNvSpPr/>
          <p:nvPr/>
        </p:nvSpPr>
        <p:spPr>
          <a:xfrm>
            <a:off x="215761" y="2931954"/>
            <a:ext cx="5914283" cy="168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xxxxxxxxxxxxxxxxxxxxxxxxxxxxxxxxxxxxxxxxxxxxxxxxxxxxxxxxxxxxxxxxxxxxxxxxxxxxxxxxx</a:t>
            </a:r>
          </a:p>
          <a:p>
            <a:pPr marL="285750" marR="0" lvl="0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xxxxxxxxxxxxxxxxxxxxxxxxxxxxxxxxxxxxxxxxxxxxxxxxxxxxxxxxxxxxxxxxxxxxxxxxxxxxxxxxxxxxxxxxxxxxxxxxxxxxxxxxx</a:t>
            </a:r>
          </a:p>
          <a:p>
            <a:pPr marL="285750" marR="0" lvl="0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xxxxxxxxxxxxxxxxxxxxxxxxxxxxxxxxxxxxxxxxxxxxxxxxxxxxxxx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xxxxxxxxxxxxxxxxxxxxxxx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33324D2-A4E6-59B8-CE18-632569C1FF2F}"/>
              </a:ext>
            </a:extLst>
          </p:cNvPr>
          <p:cNvSpPr/>
          <p:nvPr/>
        </p:nvSpPr>
        <p:spPr>
          <a:xfrm>
            <a:off x="8140504" y="3285002"/>
            <a:ext cx="1869710" cy="543878"/>
          </a:xfrm>
          <a:prstGeom prst="rect">
            <a:avLst/>
          </a:prstGeom>
          <a:ln w="12700">
            <a:miter lim="400000"/>
          </a:ln>
        </p:spPr>
        <p:txBody>
          <a:bodyPr wrap="square" lIns="108368" tIns="108368" rIns="108368" bIns="108368" anchor="ctr" anchorCtr="0">
            <a:spAutoFit/>
          </a:bodyPr>
          <a:lstStyle/>
          <a:p>
            <a:pPr marL="0" marR="0" lvl="0" indent="0" algn="ctr" defTabSz="69596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3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600000000000000" charset="-122"/>
              </a:rPr>
              <a:t>分解目标</a:t>
            </a:r>
            <a:endParaRPr kumimoji="0" lang="en-US" altLang="zh-CN" sz="1800" b="1" i="0" u="none" strike="noStrike" kern="1200" cap="none" spc="35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600000000000000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D356651-FBFA-0747-18CB-F0754313C54A}"/>
              </a:ext>
            </a:extLst>
          </p:cNvPr>
          <p:cNvSpPr/>
          <p:nvPr/>
        </p:nvSpPr>
        <p:spPr>
          <a:xfrm>
            <a:off x="2184767" y="4679622"/>
            <a:ext cx="1869710" cy="543878"/>
          </a:xfrm>
          <a:prstGeom prst="rect">
            <a:avLst/>
          </a:prstGeom>
          <a:ln w="12700">
            <a:miter lim="400000"/>
          </a:ln>
        </p:spPr>
        <p:txBody>
          <a:bodyPr wrap="square" lIns="108368" tIns="108368" rIns="108368" bIns="108368" anchor="ctr" anchorCtr="0">
            <a:spAutoFit/>
          </a:bodyPr>
          <a:lstStyle/>
          <a:p>
            <a:pPr marL="0" marR="0" lvl="0" indent="0" algn="ctr" defTabSz="69596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3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600000000000000" charset="-122"/>
              </a:rPr>
              <a:t>当前现状</a:t>
            </a:r>
            <a:endParaRPr kumimoji="0" lang="en-US" altLang="zh-CN" sz="1800" b="1" i="0" u="none" strike="noStrike" kern="1200" cap="none" spc="35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600000000000000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94B882F-D584-1B35-1696-4BDB5B48DF0C}"/>
              </a:ext>
            </a:extLst>
          </p:cNvPr>
          <p:cNvSpPr/>
          <p:nvPr/>
        </p:nvSpPr>
        <p:spPr>
          <a:xfrm>
            <a:off x="215762" y="5120326"/>
            <a:ext cx="5795614" cy="875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xxxxxxxxxxxxxxxxxxxxxxxxxxxxxxxxxxxxxxxxxxxxxxxxxxxxxxxxxxxxxxxxxxxxxxxxxxxxxxxxxxxxxxxxxxxxxxxxxxxxxxxxxxx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xxxxxxxxxxxxxxxxxxxxxxxxxxxxxxxxxxxxxxxxxxxxxxxxxxxx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90314BA-5358-461D-6D83-C40867C6F528}"/>
              </a:ext>
            </a:extLst>
          </p:cNvPr>
          <p:cNvSpPr txBox="1"/>
          <p:nvPr/>
        </p:nvSpPr>
        <p:spPr>
          <a:xfrm>
            <a:off x="6416298" y="4751635"/>
            <a:ext cx="5625281" cy="1268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xxxxxxxxxxxxxxxxxxxxxxxxxxxxxxxxxxxxxxxxxxxxxxxxxxxxxxxxxxxxxxxxxxxxxxxxxxxxxxxx</a:t>
            </a:r>
            <a:endParaRPr lang="zh-CN" altLang="en-US" sz="1200" b="0" i="0" u="none" strike="noStrike" baseline="0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1200" b="0" i="0" u="none" strike="noStrike" baseline="0" dirty="0" err="1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</a:t>
            </a:r>
            <a:r>
              <a:rPr lang="zh-CN" altLang="en-US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b="0" i="0" u="none" strike="noStrike" baseline="0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b="0" i="0" u="none" strike="noStrike" baseline="0" dirty="0" err="1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xxxxxxxxxxxxxxxxxxxxxxxxxxxxxxxxxxxxxxxxxxxxxxx</a:t>
            </a:r>
            <a:r>
              <a:rPr lang="zh-CN" altLang="en-US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30000"/>
              </a:lnSpc>
            </a:pPr>
            <a:r>
              <a:rPr lang="zh-CN" altLang="en-US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b="0" i="0" u="none" strike="noStrike" baseline="0" dirty="0" err="1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xxxxxxxxxxxxxxxxxxxxxxxxxxxxxxxxxxxxxxxxxxxxxxxxxxxxxxxxxx</a:t>
            </a:r>
            <a:r>
              <a:rPr lang="zh-CN" altLang="en-US" sz="1200" b="0" i="0" u="none" strike="noStrike" baseline="0" dirty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02277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77EE"/>
            </a:gs>
            <a:gs pos="100000">
              <a:srgbClr val="2EE89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60277" y="3014027"/>
            <a:ext cx="267144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 Bold" panose="020B0A00000000000000" charset="-122"/>
                <a:ea typeface="Source Han Sans CN Bold" panose="020B0A00000000000000" charset="-122"/>
                <a:cs typeface="HarmonyOS Sans" panose="00000600000000000000" charset="0"/>
              </a:rPr>
              <a:t>THANKS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A6F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2192</TotalTime>
  <Words>146</Words>
  <Application>Microsoft Office PowerPoint</Application>
  <PresentationFormat>宽屏</PresentationFormat>
  <Paragraphs>44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Source Han Sans CN Bold</vt:lpstr>
      <vt:lpstr>等线</vt:lpstr>
      <vt:lpstr>微软雅黑</vt:lpstr>
      <vt:lpstr>Arial</vt:lpstr>
      <vt:lpstr>Calibri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heyuai</dc:creator>
  <cp:lastModifiedBy>Huxiaoming</cp:lastModifiedBy>
  <cp:revision>294</cp:revision>
  <dcterms:created xsi:type="dcterms:W3CDTF">2022-12-29T07:42:32Z</dcterms:created>
  <dcterms:modified xsi:type="dcterms:W3CDTF">2026-06-23T13:19:54Z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2052-3.4.0.5283</vt:lpwstr>
  </property>
  <property fmtid="{D5CDD505-2E9C-101B-9397-08002B2CF9AE}" pid="3" name="_2015_ms_pID_725343">
    <vt:lpwstr>(3)LwSQuPW6RRwDvsVFz+Z2VoZ3k+wJ5NoB19xJncOirkZpmaQBIGXTwbgJNSEQV8PCn9vi5E7Y
B1f2yCOnJ1OcKUHj7r5O/xegdfHYE9tFUsGYMAeBzlxqCmUS8nAWghqy81DMtcBdH1Jafecz
hYpmZ1VXR40bLB53jqPfILGZE5KktUfLbqKjGiTedh4Zk3J9PlHkUq1bkSJKbPOpJ5Adtf11
e7O3ZkpvQmRJNIo2dO</vt:lpwstr>
  </property>
  <property fmtid="{D5CDD505-2E9C-101B-9397-08002B2CF9AE}" pid="4" name="_2015_ms_pID_7253431">
    <vt:lpwstr>hLB++LM4dRA1DJpaW+NwliVd8VrzdfVKzouNuGbbJxEHN6WXd6Dg5g
JIDxNr8irxsE9EuhCvRKpL2eRgv865x1/F6/B/0PRTaizpu9g5A8IQGpaKiL9fnQvU/Tfqiq
7M/X8GnIaGKNKjdUkh7Rxh9xr3n3616Xnjr8TA7QiZCrSnaPgztKHD6tg7YMpMqXfA3u8G1l
ziaxn8H8TsamYWmvDIoVqOINrVFz/n+52SLw</vt:lpwstr>
  </property>
  <property fmtid="{D5CDD505-2E9C-101B-9397-08002B2CF9AE}" pid="5" name="_2015_ms_pID_7253432">
    <vt:lpwstr>HXzlv2bEV5gx6i3ctliAjO4=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1780970051</vt:lpwstr>
  </property>
</Properties>
</file>